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4"/>
  </p:sldMasterIdLst>
  <p:notesMasterIdLst>
    <p:notesMasterId r:id="rId18"/>
  </p:notesMasterIdLst>
  <p:sldIdLst>
    <p:sldId id="256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262227D2-114F-4FD6-A7C7-0EC6B3D9F3D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CEF1634B-DA31-40FD-8033-DF834AF0B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773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F1634B-DA31-40FD-8033-DF834AF0B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65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2151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4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583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63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83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4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3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34589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4356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05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03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DE093F4-3646-47F3-B609-8F9EDC000E53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1AC0667E-E875-4479-9ADF-5D08FE8685C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74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CE8B60-10D6-ADFD-DC87-8A7F3513DB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Cater extract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949019D-897B-809E-7343-5361FA0B7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</a:t>
            </a:r>
            <a:br>
              <a:rPr lang="en-US" dirty="0"/>
            </a:br>
            <a:r>
              <a:rPr lang="en-US" dirty="0"/>
              <a:t>Arkadi Doktorovich, Hen Mandelbaum</a:t>
            </a:r>
          </a:p>
        </p:txBody>
      </p:sp>
    </p:spTree>
    <p:extLst>
      <p:ext uri="{BB962C8B-B14F-4D97-AF65-F5344CB8AC3E}">
        <p14:creationId xmlns:p14="http://schemas.microsoft.com/office/powerpoint/2010/main" val="686345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ACD6508-C711-13B2-667D-6A1BF6EFE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2C856E5-4AE6-2B1F-4283-D27CFC88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Franklin Gothic Book" panose="020B0503020102020204" pitchFamily="34" charset="0"/>
              </a:rPr>
              <a:t>Business agreements are often finalized through email thread negotiations, Important contractual details are embedded implicitly across several messages making manual extraction time consuming and error prone. </a:t>
            </a:r>
            <a:br>
              <a:rPr lang="en-US" dirty="0">
                <a:latin typeface="Franklin Gothic Book" panose="020B0503020102020204" pitchFamily="34" charset="0"/>
              </a:rPr>
            </a:br>
            <a:endParaRPr lang="en-US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The goal of this project is to automatically extract structured contract attributes from catering email threads and output them in a fixed JSON schema.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868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9EF084-2D04-4A82-17D1-A1FA2EA8D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definition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DBA1346-504E-8463-3818-EBF7EEA56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20253"/>
            <a:ext cx="10000034" cy="4551947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Franklin Gothic Book" panose="020B0503020102020204" pitchFamily="34" charset="0"/>
              </a:rPr>
              <a:t>Input: Multi-turn catering email threads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Output: Fixed JSON contract schema</a:t>
            </a:r>
          </a:p>
          <a:p>
            <a:pPr marL="0" indent="0">
              <a:buNone/>
            </a:pPr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For models we used a LLM that uses a prompt (GPT 4-o-mini for zero-shot and few-shot), supervised Transformer (</a:t>
            </a:r>
            <a:r>
              <a:rPr lang="en-US" dirty="0" err="1">
                <a:latin typeface="Franklin Gothic Book" panose="020B0503020102020204" pitchFamily="34" charset="0"/>
              </a:rPr>
              <a:t>DistilBERT</a:t>
            </a:r>
            <a:r>
              <a:rPr lang="en-US" dirty="0">
                <a:latin typeface="Franklin Gothic Book" panose="020B0503020102020204" pitchFamily="34" charset="0"/>
              </a:rPr>
              <a:t> multi-head).</a:t>
            </a:r>
          </a:p>
          <a:p>
            <a:pPr marL="0" indent="0">
              <a:buNone/>
            </a:pPr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For the Dataset we created 1,000 synthetic but realistic email threads with aligned JSON ground truths.</a:t>
            </a:r>
          </a:p>
          <a:p>
            <a:endParaRPr lang="en-US" dirty="0">
              <a:latin typeface="Franklin Gothic Book" panose="020B0503020102020204" pitchFamily="34" charset="0"/>
            </a:endParaRPr>
          </a:p>
          <a:p>
            <a:r>
              <a:rPr lang="en-US" dirty="0">
                <a:latin typeface="Franklin Gothic Book" panose="020B0503020102020204" pitchFamily="34" charset="0"/>
              </a:rPr>
              <a:t>The metrics used are Field level exact match / overlap scores, regression tolerance accuracy, multi label F1, and overall average score.</a:t>
            </a:r>
            <a:endParaRPr lang="he-IL" dirty="0">
              <a:latin typeface="Franklin Gothic Book" panose="020B05030201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2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0B840F36-8D0B-C7D9-D7DD-9FF420643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154" y="0"/>
            <a:ext cx="108115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81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39AC4809-7E45-8940-3230-D4DDB7683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76" y="1532071"/>
            <a:ext cx="5933736" cy="4430984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D3D4FB0-406F-532B-4BAC-0FD55542F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367" y="1060314"/>
            <a:ext cx="5029902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14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196E5-B7F1-C8DD-DA7B-DADAFDBA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386" y="0"/>
            <a:ext cx="4885362" cy="773130"/>
          </a:xfrm>
        </p:spPr>
        <p:txBody>
          <a:bodyPr/>
          <a:lstStyle/>
          <a:p>
            <a:pPr algn="ctr"/>
            <a:r>
              <a:rPr lang="en-US" dirty="0"/>
              <a:t>Feature Schema</a:t>
            </a:r>
            <a:endParaRPr lang="he-IL" dirty="0"/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27AF83FF-AB23-A361-FD2C-EABF12183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580434"/>
              </p:ext>
            </p:extLst>
          </p:nvPr>
        </p:nvGraphicFramePr>
        <p:xfrm>
          <a:off x="2355714" y="773135"/>
          <a:ext cx="7480571" cy="6084865"/>
        </p:xfrm>
        <a:graphic>
          <a:graphicData uri="http://schemas.openxmlformats.org/drawingml/2006/table">
            <a:tbl>
              <a:tblPr firstRow="1">
                <a:tableStyleId>{35758FB7-9AC5-4552-8A53-C91805E547FA}</a:tableStyleId>
              </a:tblPr>
              <a:tblGrid>
                <a:gridCol w="2091437">
                  <a:extLst>
                    <a:ext uri="{9D8B030D-6E8A-4147-A177-3AD203B41FA5}">
                      <a16:colId xmlns:a16="http://schemas.microsoft.com/office/drawing/2014/main" val="2821058754"/>
                    </a:ext>
                  </a:extLst>
                </a:gridCol>
                <a:gridCol w="2110913">
                  <a:extLst>
                    <a:ext uri="{9D8B030D-6E8A-4147-A177-3AD203B41FA5}">
                      <a16:colId xmlns:a16="http://schemas.microsoft.com/office/drawing/2014/main" val="4232182336"/>
                    </a:ext>
                  </a:extLst>
                </a:gridCol>
                <a:gridCol w="3278221">
                  <a:extLst>
                    <a:ext uri="{9D8B030D-6E8A-4147-A177-3AD203B41FA5}">
                      <a16:colId xmlns:a16="http://schemas.microsoft.com/office/drawing/2014/main" val="1082017443"/>
                    </a:ext>
                  </a:extLst>
                </a:gridCol>
              </a:tblGrid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Feature Name</a:t>
                      </a:r>
                      <a:endParaRPr lang="en-US" sz="16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Outcome Type</a:t>
                      </a:r>
                      <a:endParaRPr lang="en-US" sz="16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Possible Values / Description</a:t>
                      </a:r>
                      <a:endParaRPr lang="en-US" sz="1600" dirty="0"/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3714000383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event_type</a:t>
                      </a:r>
                      <a:endParaRPr lang="en-US" sz="12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Categorical (Text)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String describing event type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3118650497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price_type</a:t>
                      </a:r>
                      <a:endParaRPr lang="en-US" sz="12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Categorical (Enum)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per_person, fixed, range, unknown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3423923632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final_price_value</a:t>
                      </a:r>
                      <a:endParaRPr lang="en-US" sz="12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Numerical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Price value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3111953381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min_guests</a:t>
                      </a:r>
                      <a:endParaRPr lang="en-US" sz="12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Numerical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Minimum number of guests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2319200551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max_guests</a:t>
                      </a:r>
                      <a:endParaRPr lang="en-US" sz="1200" dirty="0"/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Numerical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Maximum number of guests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792268164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includes_vat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Boolean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true, false,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2008187214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is_kosher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Boolean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true, false,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2698897787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kosher_supervision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Categorical (Text)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Supervision authority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673934075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includes_bar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Boolean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true, false,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1662996058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menu_type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Categorical (Enum)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meat, dairy, mixed, pareve, unknown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2984203705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dietary_options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Multi-Label Categorical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Array of dietary strings (e.g., vegan, gluten-free)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3550949222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event_date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Temporal (Date)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YYYY-MM-DD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999844735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cancellation_policy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Categorical (Text)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Policy description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2620445334"/>
                  </a:ext>
                </a:extLst>
              </a:tr>
              <a:tr h="501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menu_highlights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Multi-Label Categorical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Array of highlighted menu items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1435351079"/>
                  </a:ext>
                </a:extLst>
              </a:tr>
              <a:tr h="286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extra_notes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Free Text</a:t>
                      </a:r>
                    </a:p>
                  </a:txBody>
                  <a:tcPr marL="42134" marR="42134" marT="21067" marB="210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Additional notes or null</a:t>
                      </a:r>
                    </a:p>
                  </a:txBody>
                  <a:tcPr marL="42134" marR="42134" marT="21067" marB="21067" anchor="ctr"/>
                </a:tc>
                <a:extLst>
                  <a:ext uri="{0D108BD9-81ED-4DB2-BD59-A6C34878D82A}">
                    <a16:rowId xmlns:a16="http://schemas.microsoft.com/office/drawing/2014/main" val="1192331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3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5A8A2-634D-E0DD-05D3-482A83F3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>
            <a:normAutofit fontScale="90000"/>
          </a:bodyPr>
          <a:lstStyle/>
          <a:p>
            <a:r>
              <a:rPr lang="en-US" dirty="0"/>
              <a:t>Feature Negotiation</a:t>
            </a:r>
            <a:br>
              <a:rPr lang="en-US" dirty="0"/>
            </a:br>
            <a:br>
              <a:rPr lang="en-US" dirty="0"/>
            </a:br>
            <a:endParaRPr lang="he-I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4CCC3-DEAB-E3D9-E254-F53C636BE25E}"/>
              </a:ext>
            </a:extLst>
          </p:cNvPr>
          <p:cNvSpPr txBox="1"/>
          <p:nvPr/>
        </p:nvSpPr>
        <p:spPr>
          <a:xfrm>
            <a:off x="1782566" y="1674853"/>
            <a:ext cx="919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task is not to extract mentions, but to extract the final agreed values.</a:t>
            </a:r>
            <a:br>
              <a:rPr lang="en-US" dirty="0"/>
            </a:br>
            <a:r>
              <a:rPr lang="en-US" dirty="0"/>
              <a:t>Here is an example of values ​​where the values ​​change as the negotiation progresses.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773B4F5-B964-5E05-C8B6-B3EE10091E1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71600" y="2590801"/>
          <a:ext cx="9561465" cy="371374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970547">
                  <a:extLst>
                    <a:ext uri="{9D8B030D-6E8A-4147-A177-3AD203B41FA5}">
                      <a16:colId xmlns:a16="http://schemas.microsoft.com/office/drawing/2014/main" val="1425646768"/>
                    </a:ext>
                  </a:extLst>
                </a:gridCol>
                <a:gridCol w="1026695">
                  <a:extLst>
                    <a:ext uri="{9D8B030D-6E8A-4147-A177-3AD203B41FA5}">
                      <a16:colId xmlns:a16="http://schemas.microsoft.com/office/drawing/2014/main" val="3213258354"/>
                    </a:ext>
                  </a:extLst>
                </a:gridCol>
                <a:gridCol w="1299411">
                  <a:extLst>
                    <a:ext uri="{9D8B030D-6E8A-4147-A177-3AD203B41FA5}">
                      <a16:colId xmlns:a16="http://schemas.microsoft.com/office/drawing/2014/main" val="170783288"/>
                    </a:ext>
                  </a:extLst>
                </a:gridCol>
                <a:gridCol w="1138989">
                  <a:extLst>
                    <a:ext uri="{9D8B030D-6E8A-4147-A177-3AD203B41FA5}">
                      <a16:colId xmlns:a16="http://schemas.microsoft.com/office/drawing/2014/main" val="3703883146"/>
                    </a:ext>
                  </a:extLst>
                </a:gridCol>
                <a:gridCol w="850232">
                  <a:extLst>
                    <a:ext uri="{9D8B030D-6E8A-4147-A177-3AD203B41FA5}">
                      <a16:colId xmlns:a16="http://schemas.microsoft.com/office/drawing/2014/main" val="2881215162"/>
                    </a:ext>
                  </a:extLst>
                </a:gridCol>
                <a:gridCol w="1411705">
                  <a:extLst>
                    <a:ext uri="{9D8B030D-6E8A-4147-A177-3AD203B41FA5}">
                      <a16:colId xmlns:a16="http://schemas.microsoft.com/office/drawing/2014/main" val="3496769071"/>
                    </a:ext>
                  </a:extLst>
                </a:gridCol>
                <a:gridCol w="1631651">
                  <a:extLst>
                    <a:ext uri="{9D8B030D-6E8A-4147-A177-3AD203B41FA5}">
                      <a16:colId xmlns:a16="http://schemas.microsoft.com/office/drawing/2014/main" val="3254073280"/>
                    </a:ext>
                  </a:extLst>
                </a:gridCol>
                <a:gridCol w="1232235">
                  <a:extLst>
                    <a:ext uri="{9D8B030D-6E8A-4147-A177-3AD203B41FA5}">
                      <a16:colId xmlns:a16="http://schemas.microsoft.com/office/drawing/2014/main" val="1026902920"/>
                    </a:ext>
                  </a:extLst>
                </a:gridCol>
              </a:tblGrid>
              <a:tr h="590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Email #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Sender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Price Type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Price Value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Guests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Includes Bar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Dietary Options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Cancellation Policy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2540420261"/>
                  </a:ext>
                </a:extLst>
              </a:tr>
              <a:tr h="590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1600" dirty="0"/>
                        <a:t>1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Supplier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Per Person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$75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1600"/>
                        <a:t>50–150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No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Vegetarian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Not specified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4045252493"/>
                  </a:ext>
                </a:extLst>
              </a:tr>
              <a:tr h="844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1600"/>
                        <a:t>2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Organizer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 Person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Request discount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100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Asked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Vegetarian, Gluten-Free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Asked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4063815952"/>
                  </a:ext>
                </a:extLst>
              </a:tr>
              <a:tr h="844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1600"/>
                        <a:t>3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Supplier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 Person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$70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100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Optional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Vegetarian, Gluten-Free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30 days full refund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3351749176"/>
                  </a:ext>
                </a:extLst>
              </a:tr>
              <a:tr h="844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e-IL" sz="1600" dirty="0"/>
                        <a:t>4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Organizer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Per Person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$70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he-IL" sz="1600" dirty="0"/>
                        <a:t>100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Yes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Vegetarian, Gluten-Free</a:t>
                      </a:r>
                    </a:p>
                  </a:txBody>
                  <a:tcPr marL="81395" marR="81395" marT="40698" marB="406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Accepted</a:t>
                      </a:r>
                    </a:p>
                  </a:txBody>
                  <a:tcPr marL="81395" marR="81395" marT="40698" marB="40698" anchor="ctr"/>
                </a:tc>
                <a:extLst>
                  <a:ext uri="{0D108BD9-81ED-4DB2-BD59-A6C34878D82A}">
                    <a16:rowId xmlns:a16="http://schemas.microsoft.com/office/drawing/2014/main" val="3915362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45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E9E6361-4590-DDE4-CA4D-3220C5E4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Creation Pipeline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06B8828-CDEF-940B-E390-67D9FCF4E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89889"/>
            <a:ext cx="10204316" cy="4503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Generate realistic business email negotiations with structured ground truth.</a:t>
            </a:r>
          </a:p>
          <a:p>
            <a:r>
              <a:rPr lang="en-US" dirty="0"/>
              <a:t>Synthetic email threads were generated using a large language model to simulate negotiations between a food supplier and an event organizer.</a:t>
            </a:r>
          </a:p>
          <a:p>
            <a:r>
              <a:rPr lang="en-US" dirty="0"/>
              <a:t>Each thread contains </a:t>
            </a:r>
            <a:r>
              <a:rPr lang="en-US" b="1" dirty="0"/>
              <a:t>four emails</a:t>
            </a:r>
            <a:r>
              <a:rPr lang="en-US" dirty="0"/>
              <a:t>, including proposal, negotiation, clarification, and final agreement or cancellation.</a:t>
            </a:r>
          </a:p>
          <a:p>
            <a:r>
              <a:rPr lang="en-US" dirty="0"/>
              <a:t>Information is embedded </a:t>
            </a:r>
            <a:r>
              <a:rPr lang="en-US" b="1" dirty="0"/>
              <a:t>implicitly </a:t>
            </a:r>
            <a:r>
              <a:rPr lang="en-US" dirty="0"/>
              <a:t>in natural language, without explicit field labels, to mimic real world communication.</a:t>
            </a:r>
          </a:p>
          <a:p>
            <a:r>
              <a:rPr lang="en-US" dirty="0"/>
              <a:t>For every thread, the model outputs a </a:t>
            </a:r>
            <a:r>
              <a:rPr lang="en-US" b="1" dirty="0"/>
              <a:t>structured JSON ground truth</a:t>
            </a:r>
            <a:r>
              <a:rPr lang="en-US" dirty="0"/>
              <a:t> containing event attributes (e.g., price, guests, kosher status, cancellation policy).</a:t>
            </a:r>
          </a:p>
          <a:p>
            <a:r>
              <a:rPr lang="en-US" dirty="0"/>
              <a:t>Missing information is explicitly represented as </a:t>
            </a:r>
            <a:r>
              <a:rPr lang="en-US" b="1" dirty="0"/>
              <a:t>null</a:t>
            </a:r>
            <a:r>
              <a:rPr lang="en-US" dirty="0"/>
              <a:t>, enabling realistic partial information scenarios.</a:t>
            </a:r>
          </a:p>
          <a:p>
            <a:r>
              <a:rPr lang="en-US" dirty="0"/>
              <a:t>A total of </a:t>
            </a:r>
            <a:r>
              <a:rPr lang="en-US" b="1" dirty="0"/>
              <a:t>1,000 email threads</a:t>
            </a:r>
            <a:r>
              <a:rPr lang="en-US" dirty="0"/>
              <a:t> were generated, split into email text files and corresponding JSON labels.</a:t>
            </a:r>
          </a:p>
          <a:p>
            <a:pPr marL="0" indent="0">
              <a:buNone/>
            </a:pPr>
            <a:r>
              <a:rPr lang="en-US" b="1" dirty="0"/>
              <a:t>Outcome:</a:t>
            </a:r>
            <a:r>
              <a:rPr lang="en-US" dirty="0"/>
              <a:t> A controlled yet realistic dataset for structured information extraction from negotiation style emails.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35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632B33-AF3D-F309-142F-7F9A7F58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Multi-Task </a:t>
            </a:r>
            <a:r>
              <a:rPr lang="en-US" dirty="0" err="1"/>
              <a:t>DistilBERT</a:t>
            </a:r>
            <a:r>
              <a:rPr lang="en-US" dirty="0"/>
              <a:t> Feature Extractor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2D33004-CF31-4A97-CA4E-0CE2E88C8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02340"/>
            <a:ext cx="9601200" cy="49221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Model Architecture:</a:t>
            </a:r>
            <a:endParaRPr lang="en-US" dirty="0"/>
          </a:p>
          <a:p>
            <a:r>
              <a:rPr lang="en-US" b="1" dirty="0"/>
              <a:t>Backbone:</a:t>
            </a:r>
            <a:r>
              <a:rPr lang="en-US" dirty="0"/>
              <a:t> </a:t>
            </a:r>
            <a:r>
              <a:rPr lang="en-US" dirty="0" err="1"/>
              <a:t>DistilBERT</a:t>
            </a:r>
            <a:r>
              <a:rPr lang="en-US" dirty="0"/>
              <a:t> encoder for contextual text representation.</a:t>
            </a:r>
          </a:p>
          <a:p>
            <a:r>
              <a:rPr lang="en-US" dirty="0"/>
              <a:t>Multi-head output layers for different prediction types:</a:t>
            </a:r>
          </a:p>
          <a:p>
            <a:pPr lvl="1"/>
            <a:r>
              <a:rPr lang="en-US" dirty="0"/>
              <a:t>Classification (event type, price type, menu type, cancellation policy)</a:t>
            </a:r>
          </a:p>
          <a:p>
            <a:pPr lvl="1"/>
            <a:r>
              <a:rPr lang="en-US" dirty="0"/>
              <a:t>Binary prediction (VAT, kosher, bar inclusion)</a:t>
            </a:r>
          </a:p>
          <a:p>
            <a:pPr lvl="1"/>
            <a:r>
              <a:rPr lang="en-US" dirty="0"/>
              <a:t>Regression (final price, guest counts, event date)</a:t>
            </a:r>
          </a:p>
          <a:p>
            <a:pPr lvl="1"/>
            <a:r>
              <a:rPr lang="en-US" dirty="0"/>
              <a:t>Multi-label classification (dietary options, menu highlights, extra notes)</a:t>
            </a:r>
          </a:p>
          <a:p>
            <a:r>
              <a:rPr lang="en-US" dirty="0"/>
              <a:t>Masked mean pooling over token embeddings to obtain document level representation.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Training Setup:</a:t>
            </a:r>
            <a:endParaRPr lang="en-US" dirty="0"/>
          </a:p>
          <a:p>
            <a:r>
              <a:rPr lang="en-US" dirty="0"/>
              <a:t>Multi-task learning with </a:t>
            </a:r>
            <a:r>
              <a:rPr lang="en-US" b="1" dirty="0"/>
              <a:t>task specific loss functions</a:t>
            </a:r>
            <a:r>
              <a:rPr lang="en-US" dirty="0"/>
              <a:t> (cross-entropy, MSE, BCE).</a:t>
            </a:r>
          </a:p>
          <a:p>
            <a:r>
              <a:rPr lang="en-US" dirty="0"/>
              <a:t>Field specific loss weighting to balance heterogeneous outputs.</a:t>
            </a:r>
          </a:p>
          <a:p>
            <a:r>
              <a:rPr lang="en-US" dirty="0"/>
              <a:t>Numeric fields normalized to stabilize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721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BB4384D-6227-E414-FB9D-FD72D2380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Achievements and Novelty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81B4311-387B-F13C-C8FC-5A036BE22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896893"/>
            <a:ext cx="10184860" cy="4649822"/>
          </a:xfrm>
        </p:spPr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b="1" dirty="0"/>
              <a:t>Accomplishments:</a:t>
            </a:r>
            <a:endParaRPr lang="en-US" sz="2400" dirty="0"/>
          </a:p>
          <a:p>
            <a:r>
              <a:rPr lang="en-US" sz="2400" dirty="0"/>
              <a:t>Trained a supervised extraction model that outperformed zero-shot and few-shot LLMs on structured feature extraction.</a:t>
            </a:r>
          </a:p>
          <a:p>
            <a:r>
              <a:rPr lang="en-US" sz="2400" dirty="0"/>
              <a:t>Finding a close to perfect prompt for business email threads generation.</a:t>
            </a:r>
          </a:p>
          <a:p>
            <a:pPr marL="0" indent="0" algn="l" rtl="0">
              <a:buNone/>
            </a:pPr>
            <a:endParaRPr lang="en-US" sz="2400" dirty="0"/>
          </a:p>
          <a:p>
            <a:pPr marL="0" indent="0" algn="l" rtl="0">
              <a:buNone/>
            </a:pPr>
            <a:r>
              <a:rPr lang="en-US" sz="2400" b="1" dirty="0"/>
              <a:t>Novelty:</a:t>
            </a:r>
            <a:endParaRPr lang="en-US" sz="2400" dirty="0"/>
          </a:p>
          <a:p>
            <a:pPr algn="l" rtl="0"/>
            <a:r>
              <a:rPr lang="en-US" sz="2400" dirty="0"/>
              <a:t>Focus on negotiation aware information extraction rather than single email or sentence level extraction.</a:t>
            </a:r>
          </a:p>
          <a:p>
            <a:pPr algn="l" rtl="0"/>
            <a:r>
              <a:rPr lang="en-US" sz="2400" dirty="0"/>
              <a:t>Direct comparison between LLM based extraction and supervised multi-task learning under the same schema.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25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A4E8DA-9D25-3855-3E8E-D54B19BE0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Methodology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8B4C5F-5EDE-0058-13D8-5101CD677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426"/>
            <a:ext cx="10515600" cy="5301574"/>
          </a:xfrm>
        </p:spPr>
        <p:txBody>
          <a:bodyPr>
            <a:normAutofit fontScale="85000" lnSpcReduction="20000"/>
          </a:bodyPr>
          <a:lstStyle/>
          <a:p>
            <a:pPr marL="0" indent="0" algn="l" rtl="0">
              <a:buNone/>
            </a:pPr>
            <a:r>
              <a:rPr lang="en-US" b="1" dirty="0"/>
              <a:t>Project process:</a:t>
            </a:r>
            <a:endParaRPr lang="en-US" dirty="0"/>
          </a:p>
          <a:p>
            <a:pPr algn="l" rtl="0"/>
            <a:r>
              <a:rPr lang="en-US" dirty="0"/>
              <a:t>Defined a structured schema and aligned all models to the same output format.</a:t>
            </a:r>
          </a:p>
          <a:p>
            <a:pPr algn="l" rtl="0"/>
            <a:r>
              <a:rPr lang="en-US" dirty="0"/>
              <a:t>Trained, evaluated, and compared multiple extraction approaches.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Data &amp; Models:</a:t>
            </a:r>
            <a:endParaRPr lang="en-US" dirty="0"/>
          </a:p>
          <a:p>
            <a:pPr algn="l" rtl="0"/>
            <a:r>
              <a:rPr lang="en-US" dirty="0"/>
              <a:t>Prepared a dataset of 1000 synthetic email thread negotiations with JSON ground truth.</a:t>
            </a:r>
          </a:p>
          <a:p>
            <a:pPr algn="l" rtl="0"/>
            <a:r>
              <a:rPr lang="en-US" dirty="0"/>
              <a:t>Evaluated:</a:t>
            </a:r>
          </a:p>
          <a:p>
            <a:pPr lvl="1"/>
            <a:r>
              <a:rPr lang="en-US" i="0" dirty="0"/>
              <a:t>GPT 4-o-mini, LLM zero-shot &amp; few-shot prompting.</a:t>
            </a:r>
          </a:p>
          <a:p>
            <a:pPr lvl="1"/>
            <a:r>
              <a:rPr lang="en-US" i="0" dirty="0"/>
              <a:t>Zero-Shot : use Only instructions and schema.</a:t>
            </a:r>
          </a:p>
          <a:p>
            <a:pPr lvl="1"/>
            <a:r>
              <a:rPr lang="en-US" i="0" dirty="0"/>
              <a:t>Few- shot : Use One full example Email thread and JSON output.</a:t>
            </a:r>
          </a:p>
          <a:p>
            <a:pPr lvl="1" algn="l" rtl="0"/>
            <a:r>
              <a:rPr lang="en-US" i="0" dirty="0" err="1"/>
              <a:t>DistilBERT</a:t>
            </a:r>
            <a:r>
              <a:rPr lang="en-US" i="0" dirty="0"/>
              <a:t>, Supervised Transformer based model.</a:t>
            </a:r>
          </a:p>
          <a:p>
            <a:pPr algn="l" rtl="0"/>
            <a:r>
              <a:rPr lang="en-US" dirty="0"/>
              <a:t>Metrics: field-level Precision, Recall, and F1-score.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Efforts:</a:t>
            </a:r>
            <a:endParaRPr lang="en-US" dirty="0"/>
          </a:p>
          <a:p>
            <a:r>
              <a:rPr lang="en-US" dirty="0"/>
              <a:t>Training from ground zero the Supervised Transformer based model.</a:t>
            </a:r>
          </a:p>
          <a:p>
            <a:pPr algn="l" rtl="0"/>
            <a:r>
              <a:rPr lang="en-US" dirty="0"/>
              <a:t>Prompt engineering and consistency checks for LLM outputs and data creation.</a:t>
            </a:r>
          </a:p>
          <a:p>
            <a:pPr marL="0" indent="0" algn="l" rtl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665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B06E2A2-7C3C-6269-B456-E2073B332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0"/>
            <a:ext cx="9601200" cy="1485900"/>
          </a:xfrm>
        </p:spPr>
        <p:txBody>
          <a:bodyPr/>
          <a:lstStyle/>
          <a:p>
            <a:pPr algn="ctr"/>
            <a:r>
              <a:rPr lang="en-US" dirty="0"/>
              <a:t>Results</a:t>
            </a:r>
          </a:p>
        </p:txBody>
      </p:sp>
      <p:pic>
        <p:nvPicPr>
          <p:cNvPr id="5" name="תמונה 4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DDFC46B-D8B5-D157-2A9E-4C728B0C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07" y="0"/>
            <a:ext cx="3686689" cy="3696216"/>
          </a:xfrm>
          <a:prstGeom prst="rect">
            <a:avLst/>
          </a:prstGeom>
        </p:spPr>
      </p:pic>
      <p:pic>
        <p:nvPicPr>
          <p:cNvPr id="7" name="תמונה 6" descr="תמונה שמכילה טקסט, צילום מסך, קו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CA022E9-4A22-32B0-3547-6135CD83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97" y="3696216"/>
            <a:ext cx="5705271" cy="3152610"/>
          </a:xfrm>
          <a:prstGeom prst="rect">
            <a:avLst/>
          </a:prstGeom>
        </p:spPr>
      </p:pic>
      <p:pic>
        <p:nvPicPr>
          <p:cNvPr id="9" name="תמונה 8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70D03E5D-4C28-BFA6-BF13-894CCCE0B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2468" y="0"/>
            <a:ext cx="3629532" cy="3696216"/>
          </a:xfrm>
          <a:prstGeom prst="rect">
            <a:avLst/>
          </a:prstGeom>
        </p:spPr>
      </p:pic>
      <p:pic>
        <p:nvPicPr>
          <p:cNvPr id="11" name="תמונה 10" descr="תמונה שמכילה טקסט, צילום מסך, קו, עלילה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DA7E1C48-72AF-3D45-818C-C498A4FB4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8350" y="3701719"/>
            <a:ext cx="5705271" cy="3156281"/>
          </a:xfrm>
          <a:prstGeom prst="rect">
            <a:avLst/>
          </a:prstGeom>
        </p:spPr>
      </p:pic>
      <p:pic>
        <p:nvPicPr>
          <p:cNvPr id="13" name="תמונה 12" descr="תמונה שמכילה טקסט, צילום מסך, גופן, מספ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E65FB99C-56F9-5B5A-6A2A-881EAE32B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992" y="564205"/>
            <a:ext cx="3010320" cy="304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63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A96D65-A18D-04A5-51D2-98B08EB6F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Conclusion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93A0A64-C268-D7AD-AFCA-711762F5E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6277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Our goals were to outperform the LLM models, and we successfully did it after working on the supervised transformer-based model.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Things we learnt:</a:t>
            </a:r>
            <a:endParaRPr lang="en-US" dirty="0"/>
          </a:p>
          <a:p>
            <a:pPr algn="l" rtl="0"/>
            <a:r>
              <a:rPr lang="en-US" dirty="0"/>
              <a:t>Schema design and annotation consistency are as critical as model choice.</a:t>
            </a:r>
          </a:p>
          <a:p>
            <a:pPr algn="l" rtl="0"/>
            <a:r>
              <a:rPr lang="en-US" dirty="0"/>
              <a:t>Prompting alone is insufficient for high precision structured extraction.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b="1" dirty="0"/>
              <a:t>Additional ideas:</a:t>
            </a:r>
            <a:endParaRPr lang="en-US" dirty="0"/>
          </a:p>
          <a:p>
            <a:pPr algn="l" rtl="0"/>
            <a:r>
              <a:rPr lang="en-US" dirty="0"/>
              <a:t>Hybrid approaches combining LLM reasoning with supervised extraction.</a:t>
            </a:r>
          </a:p>
          <a:p>
            <a:pPr algn="l" rtl="0"/>
            <a:r>
              <a:rPr lang="en-US" dirty="0"/>
              <a:t>Expand dataset size and include real world negotiation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16954"/>
      </p:ext>
    </p:extLst>
  </p:cSld>
  <p:clrMapOvr>
    <a:masterClrMapping/>
  </p:clrMapOvr>
</p:sld>
</file>

<file path=ppt/theme/theme1.xml><?xml version="1.0" encoding="utf-8"?>
<a:theme xmlns:a="http://schemas.openxmlformats.org/drawingml/2006/main" name="חיתוך">
  <a:themeElements>
    <a:clrScheme name="חיתוך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חיתוך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חיתוך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855C6033F0324458BA4663AA427B2F6" ma:contentTypeVersion="1" ma:contentTypeDescription="Создание документа." ma:contentTypeScope="" ma:versionID="5e56c8390ec359f1d94eca1beb2fc0b9">
  <xsd:schema xmlns:xsd="http://www.w3.org/2001/XMLSchema" xmlns:xs="http://www.w3.org/2001/XMLSchema" xmlns:p="http://schemas.microsoft.com/office/2006/metadata/properties" xmlns:ns3="044549aa-7393-4eb2-afa7-bdc9a2dcb6cf" targetNamespace="http://schemas.microsoft.com/office/2006/metadata/properties" ma:root="true" ma:fieldsID="c66fd20c10a35eb40d6d2371b994c874" ns3:_="">
    <xsd:import namespace="044549aa-7393-4eb2-afa7-bdc9a2dcb6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4549aa-7393-4eb2-afa7-bdc9a2dcb6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A3D8FA-39AD-41A7-A64B-D6A787E095C4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metadata/properties"/>
    <ds:schemaRef ds:uri="http://purl.org/dc/dcmitype/"/>
    <ds:schemaRef ds:uri="http://schemas.openxmlformats.org/package/2006/metadata/core-properties"/>
    <ds:schemaRef ds:uri="044549aa-7393-4eb2-afa7-bdc9a2dcb6cf"/>
  </ds:schemaRefs>
</ds:datastoreItem>
</file>

<file path=customXml/itemProps2.xml><?xml version="1.0" encoding="utf-8"?>
<ds:datastoreItem xmlns:ds="http://schemas.openxmlformats.org/officeDocument/2006/customXml" ds:itemID="{EE27C219-70A3-4101-BCD9-3EB4B66390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6CD0D4-2161-4549-846F-CC0966D7609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4549aa-7393-4eb2-afa7-bdc9a2dcb6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חיתוך</Template>
  <TotalTime>120</TotalTime>
  <Words>959</Words>
  <Application>Microsoft Office PowerPoint</Application>
  <PresentationFormat>מסך רחב</PresentationFormat>
  <Paragraphs>167</Paragraphs>
  <Slides>13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13</vt:i4>
      </vt:variant>
    </vt:vector>
  </HeadingPairs>
  <TitlesOfParts>
    <vt:vector size="16" baseType="lpstr">
      <vt:lpstr>Aptos</vt:lpstr>
      <vt:lpstr>Franklin Gothic Book</vt:lpstr>
      <vt:lpstr>חיתוך</vt:lpstr>
      <vt:lpstr>Cater extract</vt:lpstr>
      <vt:lpstr>Motivation</vt:lpstr>
      <vt:lpstr>Project definition</vt:lpstr>
      <vt:lpstr>מצגת של PowerPoint‏</vt:lpstr>
      <vt:lpstr>מצגת של PowerPoint‏</vt:lpstr>
      <vt:lpstr>Feature Schema</vt:lpstr>
      <vt:lpstr>Feature Negotiation  </vt:lpstr>
      <vt:lpstr>Data Creation Pipeline</vt:lpstr>
      <vt:lpstr>Multi-Task DistilBERT Feature Extractor</vt:lpstr>
      <vt:lpstr>Achievements and Novelty</vt:lpstr>
      <vt:lpstr>Methodology</vt:lpstr>
      <vt:lpstr>Results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Arkadi Doktorovich</dc:creator>
  <cp:lastModifiedBy>Arkadi Doktorovich</cp:lastModifiedBy>
  <cp:revision>3</cp:revision>
  <dcterms:created xsi:type="dcterms:W3CDTF">2026-01-18T19:10:48Z</dcterms:created>
  <dcterms:modified xsi:type="dcterms:W3CDTF">2026-01-23T19:27:02Z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0x0101008855C6033F0324458BA4663AA427B2F6</vt:lpwstr>
  </property>
</Properties>
</file>