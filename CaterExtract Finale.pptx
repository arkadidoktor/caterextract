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4"/>
  </p:sldMasterIdLst>
  <p:sldIdLst>
    <p:sldId id="256" r:id="rId5"/>
    <p:sldId id="263" r:id="rId6"/>
    <p:sldId id="262" r:id="rId7"/>
    <p:sldId id="264" r:id="rId8"/>
    <p:sldId id="265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42151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4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583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3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3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4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458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356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0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0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507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CE8B60-10D6-ADFD-DC87-8A7F3513D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Cater extract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949019D-897B-809E-7343-5361FA0B7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Arkadi Doktorovich, Hen Mandelbaum</a:t>
            </a:r>
          </a:p>
        </p:txBody>
      </p:sp>
    </p:spTree>
    <p:extLst>
      <p:ext uri="{BB962C8B-B14F-4D97-AF65-F5344CB8AC3E}">
        <p14:creationId xmlns:p14="http://schemas.microsoft.com/office/powerpoint/2010/main" val="68634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CD6508-C711-13B2-667D-6A1BF6EF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C856E5-4AE6-2B1F-4283-D27CFC88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Business agreements are often finalized through email thread negotiations, Important contractual details are embedded implicitly across several messages making manual extraction time consuming and error prone. </a:t>
            </a:r>
            <a:br>
              <a:rPr lang="en-US" dirty="0">
                <a:latin typeface="Franklin Gothic Book" panose="020B0503020102020204" pitchFamily="34" charset="0"/>
              </a:rPr>
            </a:br>
            <a:endParaRPr lang="en-US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The goal of this project is to automatically extract structured contract attributes from catering email threads and output them in a fixed JSON schema.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86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9EF084-2D04-4A82-17D1-A1FA2EA8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definition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BA1346-504E-8463-3818-EBF7EEA5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000034" cy="3581400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For models we used a LLM that uses a prompt (GPT 4-o-mini for zero-shot and few-shot), supervised Transformer (</a:t>
            </a:r>
            <a:r>
              <a:rPr lang="en-US" dirty="0" err="1">
                <a:latin typeface="Franklin Gothic Book" panose="020B0503020102020204" pitchFamily="34" charset="0"/>
              </a:rPr>
              <a:t>DistilBERT</a:t>
            </a:r>
            <a:r>
              <a:rPr lang="en-US" dirty="0">
                <a:latin typeface="Franklin Gothic Book" panose="020B0503020102020204" pitchFamily="34" charset="0"/>
              </a:rPr>
              <a:t> multi-head) along with </a:t>
            </a:r>
            <a:r>
              <a:rPr lang="en-US" dirty="0" err="1">
                <a:latin typeface="Franklin Gothic Book" panose="020B0503020102020204" pitchFamily="34" charset="0"/>
              </a:rPr>
              <a:t>GLiNER</a:t>
            </a:r>
            <a:r>
              <a:rPr lang="en-US" dirty="0">
                <a:latin typeface="Franklin Gothic Book" panose="020B0503020102020204" pitchFamily="34" charset="0"/>
              </a:rPr>
              <a:t> as our NER model.</a:t>
            </a:r>
          </a:p>
          <a:p>
            <a:pPr marL="0" indent="0">
              <a:buNone/>
            </a:pPr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For the Dataset we created 1,000 synthetic but realistic email threads with aligned JSON ground truths.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The metrics used are Field level exact match / overlap scores, regression tolerance accuracy, multi label F1, and overall average score.</a:t>
            </a:r>
            <a:endParaRPr lang="he-IL" dirty="0">
              <a:latin typeface="Franklin Gothic Book" panose="020B05030201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B840F36-8D0B-C7D9-D7DD-9FF42064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54" y="0"/>
            <a:ext cx="10811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1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AC4809-7E45-8940-3230-D4DDB768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76" y="1532071"/>
            <a:ext cx="5933736" cy="4430984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D3D4FB0-406F-532B-4BAC-0FD55542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67" y="1060314"/>
            <a:ext cx="5029902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4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B4384D-6227-E414-FB9D-FD72D238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Achievements and Novelty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81B4311-387B-F13C-C8FC-5A036BE22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96893"/>
            <a:ext cx="10184860" cy="4649822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b="1" dirty="0"/>
              <a:t>Accomplishments:</a:t>
            </a:r>
            <a:endParaRPr lang="en-US" sz="2400" dirty="0"/>
          </a:p>
          <a:p>
            <a:r>
              <a:rPr lang="en-US" sz="2400" dirty="0"/>
              <a:t>Trained a supervised extraction model that outperformed zero-shot and few-shot LLMs on structured feature extraction.</a:t>
            </a:r>
          </a:p>
          <a:p>
            <a:r>
              <a:rPr lang="en-US" sz="2400" dirty="0"/>
              <a:t>Finding a close to perfect prompt for business email threads generation.</a:t>
            </a:r>
          </a:p>
          <a:p>
            <a:pPr marL="0" indent="0" algn="l" rtl="0">
              <a:buNone/>
            </a:pPr>
            <a:endParaRPr lang="en-US" sz="2400" dirty="0"/>
          </a:p>
          <a:p>
            <a:pPr marL="0" indent="0" algn="l" rtl="0">
              <a:buNone/>
            </a:pPr>
            <a:r>
              <a:rPr lang="en-US" sz="2400" b="1" dirty="0"/>
              <a:t>Novelty:</a:t>
            </a:r>
            <a:endParaRPr lang="en-US" sz="2400" dirty="0"/>
          </a:p>
          <a:p>
            <a:pPr algn="l" rtl="0"/>
            <a:r>
              <a:rPr lang="en-US" sz="2400" dirty="0"/>
              <a:t>Focus on negotiation aware information extraction rather than single email or sentence level extraction.</a:t>
            </a:r>
          </a:p>
          <a:p>
            <a:pPr algn="l" rtl="0"/>
            <a:r>
              <a:rPr lang="en-US" sz="2400" dirty="0"/>
              <a:t>Direct comparison between LLM based extraction and supervised multi-task learning under the same schema.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A4E8DA-9D25-3855-3E8E-D54B19BE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Methodology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8B4C5F-5EDE-0058-13D8-5101CD677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426"/>
            <a:ext cx="10515600" cy="5301574"/>
          </a:xfrm>
        </p:spPr>
        <p:txBody>
          <a:bodyPr>
            <a:normAutofit fontScale="85000" lnSpcReduction="20000"/>
          </a:bodyPr>
          <a:lstStyle/>
          <a:p>
            <a:pPr marL="0" indent="0" algn="l" rtl="0">
              <a:buNone/>
            </a:pPr>
            <a:r>
              <a:rPr lang="en-US" b="1" dirty="0"/>
              <a:t>Project process:</a:t>
            </a:r>
            <a:endParaRPr lang="en-US" dirty="0"/>
          </a:p>
          <a:p>
            <a:pPr algn="l" rtl="0"/>
            <a:r>
              <a:rPr lang="en-US" dirty="0"/>
              <a:t>Defined a structured schema and aligned all models to the same output format.</a:t>
            </a:r>
          </a:p>
          <a:p>
            <a:pPr algn="l" rtl="0"/>
            <a:r>
              <a:rPr lang="en-US" dirty="0"/>
              <a:t>Trained, evaluated, and compared multiple extraction approaches.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Data &amp; Models:</a:t>
            </a:r>
            <a:endParaRPr lang="en-US" dirty="0"/>
          </a:p>
          <a:p>
            <a:pPr algn="l" rtl="0"/>
            <a:r>
              <a:rPr lang="en-US" dirty="0"/>
              <a:t>Prepared a dataset of 1000 synthetic email thread negotiations with JSON ground truth.</a:t>
            </a:r>
          </a:p>
          <a:p>
            <a:pPr algn="l" rtl="0"/>
            <a:r>
              <a:rPr lang="en-US" dirty="0"/>
              <a:t>Evaluated:</a:t>
            </a:r>
          </a:p>
          <a:p>
            <a:pPr lvl="1" algn="l" rtl="0"/>
            <a:r>
              <a:rPr lang="en-US" i="0" dirty="0"/>
              <a:t>GPT 4-o-mini, LLM zero-shot &amp; few-shot prompting.</a:t>
            </a:r>
          </a:p>
          <a:p>
            <a:pPr lvl="1" algn="l" rtl="0"/>
            <a:r>
              <a:rPr lang="en-US" i="0" dirty="0" err="1"/>
              <a:t>DistilBERT</a:t>
            </a:r>
            <a:r>
              <a:rPr lang="en-US" i="0" dirty="0"/>
              <a:t>, Supervised Transformer based model.</a:t>
            </a:r>
          </a:p>
          <a:p>
            <a:pPr lvl="1" algn="l" rtl="0"/>
            <a:r>
              <a:rPr lang="en-US" i="0" dirty="0" err="1"/>
              <a:t>GLiNER</a:t>
            </a:r>
            <a:r>
              <a:rPr lang="en-US" i="0" dirty="0"/>
              <a:t>, NER-based extraction baseline.</a:t>
            </a:r>
          </a:p>
          <a:p>
            <a:pPr algn="l" rtl="0"/>
            <a:r>
              <a:rPr lang="en-US" dirty="0"/>
              <a:t>Metrics: field-level Precision, Recall, and F1-score.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Efforts:</a:t>
            </a:r>
            <a:endParaRPr lang="en-US" dirty="0"/>
          </a:p>
          <a:p>
            <a:r>
              <a:rPr lang="en-US" dirty="0"/>
              <a:t>Training from ground zero the Supervised Transformer based model.</a:t>
            </a:r>
          </a:p>
          <a:p>
            <a:pPr algn="l" rtl="0"/>
            <a:r>
              <a:rPr lang="en-US" dirty="0"/>
              <a:t>Prompt engineering and consistency checks for LLM outputs and data creation.</a:t>
            </a:r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6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06E2A2-7C3C-6269-B456-E2073B33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485900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DDFC46B-D8B5-D157-2A9E-4C728B0C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07" y="0"/>
            <a:ext cx="3686689" cy="3696216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קו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CA022E9-4A22-32B0-3547-6135CD83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97" y="3696216"/>
            <a:ext cx="5705271" cy="3152610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0D03E5D-4C28-BFA6-BF13-894CCCE0B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68" y="0"/>
            <a:ext cx="3629532" cy="3696216"/>
          </a:xfrm>
          <a:prstGeom prst="rect">
            <a:avLst/>
          </a:prstGeom>
        </p:spPr>
      </p:pic>
      <p:pic>
        <p:nvPicPr>
          <p:cNvPr id="11" name="תמונה 10" descr="תמונה שמכילה טקסט, צילום מסך, קו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7E1C48-72AF-3D45-818C-C498A4FB4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350" y="3701719"/>
            <a:ext cx="5705271" cy="3156281"/>
          </a:xfrm>
          <a:prstGeom prst="rect">
            <a:avLst/>
          </a:prstGeom>
        </p:spPr>
      </p:pic>
      <p:pic>
        <p:nvPicPr>
          <p:cNvPr id="13" name="תמונה 12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65FB99C-56F9-5B5A-6A2A-881EAE32B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92" y="564205"/>
            <a:ext cx="3010320" cy="304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6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A96D65-A18D-04A5-51D2-98B08EB6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Conclusion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93A0A64-C268-D7AD-AFCA-711762F5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6277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goals were to outperform the LLM models, and we successfully did it after working on the supervised transformer-based model.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Things we learnt:</a:t>
            </a:r>
            <a:endParaRPr lang="en-US" dirty="0"/>
          </a:p>
          <a:p>
            <a:pPr algn="l" rtl="0"/>
            <a:r>
              <a:rPr lang="en-US" dirty="0"/>
              <a:t>Schema design and annotation consistency are as critical as model choice.</a:t>
            </a:r>
          </a:p>
          <a:p>
            <a:pPr algn="l" rtl="0"/>
            <a:r>
              <a:rPr lang="en-US" dirty="0"/>
              <a:t>Prompting alone is insufficient for high precision structured extraction.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Additional ideas:</a:t>
            </a:r>
            <a:endParaRPr lang="en-US" dirty="0"/>
          </a:p>
          <a:p>
            <a:pPr algn="l" rtl="0"/>
            <a:r>
              <a:rPr lang="en-US" dirty="0"/>
              <a:t>Hybrid approaches combining LLM reasoning with supervised extraction.</a:t>
            </a:r>
          </a:p>
          <a:p>
            <a:pPr algn="l" rtl="0"/>
            <a:r>
              <a:rPr lang="en-US" dirty="0"/>
              <a:t>Expand dataset size and include real world negotiation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16954"/>
      </p:ext>
    </p:extLst>
  </p:cSld>
  <p:clrMapOvr>
    <a:masterClrMapping/>
  </p:clrMapOvr>
</p:sld>
</file>

<file path=ppt/theme/theme1.xml><?xml version="1.0" encoding="utf-8"?>
<a:theme xmlns:a="http://schemas.openxmlformats.org/drawingml/2006/main" name="חיתוך">
  <a:themeElements>
    <a:clrScheme name="חיתוך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חיתוך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חיתוך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855C6033F0324458BA4663AA427B2F6" ma:contentTypeVersion="1" ma:contentTypeDescription="Создание документа." ma:contentTypeScope="" ma:versionID="5e56c8390ec359f1d94eca1beb2fc0b9">
  <xsd:schema xmlns:xsd="http://www.w3.org/2001/XMLSchema" xmlns:xs="http://www.w3.org/2001/XMLSchema" xmlns:p="http://schemas.microsoft.com/office/2006/metadata/properties" xmlns:ns3="044549aa-7393-4eb2-afa7-bdc9a2dcb6cf" targetNamespace="http://schemas.microsoft.com/office/2006/metadata/properties" ma:root="true" ma:fieldsID="c66fd20c10a35eb40d6d2371b994c874" ns3:_="">
    <xsd:import namespace="044549aa-7393-4eb2-afa7-bdc9a2dcb6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549aa-7393-4eb2-afa7-bdc9a2dcb6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6CD0D4-2161-4549-846F-CC0966D760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549aa-7393-4eb2-afa7-bdc9a2dcb6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27C219-70A3-4101-BCD9-3EB4B66390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A3D8FA-39AD-41A7-A64B-D6A787E095C4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044549aa-7393-4eb2-afa7-bdc9a2dcb6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חיתוך</Template>
  <TotalTime>96</TotalTime>
  <Words>383</Words>
  <Application>Microsoft Office PowerPoint</Application>
  <PresentationFormat>מסך רחב</PresentationFormat>
  <Paragraphs>47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2" baseType="lpstr">
      <vt:lpstr>Arial</vt:lpstr>
      <vt:lpstr>Franklin Gothic Book</vt:lpstr>
      <vt:lpstr>חיתוך</vt:lpstr>
      <vt:lpstr>Cater extract</vt:lpstr>
      <vt:lpstr>Motivation</vt:lpstr>
      <vt:lpstr>Project definition</vt:lpstr>
      <vt:lpstr>מצגת של PowerPoint‏</vt:lpstr>
      <vt:lpstr>מצגת של PowerPoint‏</vt:lpstr>
      <vt:lpstr>Achievements and Novelty</vt:lpstr>
      <vt:lpstr>Methodology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Arkadi Doktorovich</dc:creator>
  <cp:lastModifiedBy>Arkadi Doktorovich</cp:lastModifiedBy>
  <cp:revision>2</cp:revision>
  <dcterms:created xsi:type="dcterms:W3CDTF">2026-01-18T19:10:48Z</dcterms:created>
  <dcterms:modified xsi:type="dcterms:W3CDTF">2026-01-18T20:47:32Z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0x0101008855C6033F0324458BA4663AA427B2F6</vt:lpwstr>
  </property>
</Properties>
</file>